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600" b="1">
                <a:solidFill>
                  <a:srgbClr val="EF4444"/>
                </a:solidFill>
                <a:latin typeface="Arial"/>
              </a:defRPr>
            </a:pPr>
            <a:r>
              <a:t>CYBERSATHI HUB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4F4F5"/>
                </a:solidFill>
                <a:latin typeface="Arial"/>
              </a:defRPr>
            </a:pPr>
            <a:r>
              <a:t>Multi-Engine Security Telemetry &amp; Orchestration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A1A1AA"/>
                </a:solidFill>
                <a:latin typeface="Consolas"/>
              </a:defRPr>
            </a:pPr>
            <a:r>
              <a:t>Comprehensive Project Architecture &amp; Component Breakdown</a:t>
            </a:r>
          </a:p>
          <a:p>
            <a:pPr algn="ctr">
              <a:spcBef>
                <a:spcPts val="800"/>
              </a:spcBef>
              <a:defRPr sz="1100">
                <a:solidFill>
                  <a:srgbClr val="EF4444"/>
                </a:solidFill>
                <a:latin typeface="Consolas"/>
              </a:defRPr>
            </a:pPr>
            <a:r>
              <a:t>Platform: Next.js 16 (React 19) | Supabase SSR | Decoupled Python Heuristics &amp; NLP Engines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System Architecture: Decoupled Microservices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EF4444"/>
                </a:solidFill>
                <a:latin typeface="Consolas"/>
              </a:defRPr>
            </a:pPr>
            <a:r>
              <a:t>THE MONOLITH PROBLEM</a:t>
            </a:r>
          </a:p>
          <a:p>
            <a:pPr>
              <a:spcAft>
                <a:spcPts val="800"/>
              </a:spcAft>
              <a:defRPr sz="1200">
                <a:solidFill>
                  <a:srgbClr val="F4F4F5"/>
                </a:solidFill>
                <a:latin typeface="Arial"/>
              </a:defRPr>
            </a:pPr>
            <a:r>
              <a:t>• Dependency Bloat: Running heavy Transformer NLP models along with low-latency TCP socket scanners creates environment collisions (e.g. system packages vs. python version bindings).</a:t>
            </a:r>
          </a:p>
          <a:p>
            <a:pPr>
              <a:spcAft>
                <a:spcPts val="800"/>
              </a:spcAft>
              <a:defRPr sz="1200">
                <a:solidFill>
                  <a:srgbClr val="F4F4F5"/>
                </a:solidFill>
                <a:latin typeface="Arial"/>
              </a:defRPr>
            </a:pPr>
            <a:r>
              <a:t>• Resource Contention: CPU/RAM-heavy analysis (like deep email classification) halts the main UI loop in monolithic frameworks.</a:t>
            </a:r>
          </a:p>
          <a:p>
            <a:pPr>
              <a:spcAft>
                <a:spcPts val="800"/>
              </a:spcAft>
              <a:defRPr sz="1200">
                <a:solidFill>
                  <a:srgbClr val="F4F4F5"/>
                </a:solidFill>
                <a:latin typeface="Arial"/>
              </a:defRPr>
            </a:pPr>
            <a:r>
              <a:t>• Scalability Limits: Decoupling allows isolated engines to scale horizontally, running on separate machines or ports without rebuilding the entire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EF4444"/>
                </a:solidFill>
                <a:latin typeface="Consolas"/>
              </a:defRPr>
            </a:pPr>
            <a:r>
              <a:t>CYBERSATHI HUB SOLUTION</a:t>
            </a:r>
          </a:p>
          <a:p>
            <a:pPr>
              <a:spcAft>
                <a:spcPts val="800"/>
              </a:spcAft>
              <a:defRPr sz="1200">
                <a:solidFill>
                  <a:srgbClr val="F4F4F5"/>
                </a:solidFill>
                <a:latin typeface="Arial"/>
              </a:defRPr>
            </a:pPr>
            <a:r>
              <a:t>• Next.js 16 App Router: Serves as the unified command center UI. Compiles optimized static pages for low-latency view rendering.</a:t>
            </a:r>
          </a:p>
          <a:p>
            <a:pPr>
              <a:spcAft>
                <a:spcPts val="800"/>
              </a:spcAft>
              <a:defRPr sz="1200">
                <a:solidFill>
                  <a:srgbClr val="F4F4F5"/>
                </a:solidFill>
                <a:latin typeface="Arial"/>
              </a:defRPr>
            </a:pPr>
            <a:r>
              <a:t>• Secure Server Actions: Next.js acts as a proxy, executing fetch operations to local loopback ports (Port 5000-5008). Avoids CORS blocks and secures backend APIs.</a:t>
            </a:r>
          </a:p>
          <a:p>
            <a:pPr>
              <a:spcAft>
                <a:spcPts val="800"/>
              </a:spcAft>
              <a:defRPr sz="1200">
                <a:solidFill>
                  <a:srgbClr val="F4F4F5"/>
                </a:solidFill>
                <a:latin typeface="Arial"/>
              </a:defRPr>
            </a:pPr>
            <a:r>
              <a:t>• Supabase Cloud Auth: Handles secure operator logins and PostgreSQL telemetry data synchronization with built-in Row-Level Security (RLS).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Microservices Port Registry &amp; Core 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011680"/>
                <a:gridCol w="4873752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ENGINE MODULE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TECH STACK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FUNCTIONAL DESCRIPTION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Password Analyzer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zxcvbn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Shannon entropy core and breach dictionary lookups.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5001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URL Threat Detector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Heuristics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Heuristic scans &amp; domain redirects verification.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5002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Hash Identifier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HashesDB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MD5, SHA-256 algorithm matching &amp; signatures.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5003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Port Scanner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SocketAsync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Asynchronous TCP SYN scanning for open ports.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5004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Malware Sandbox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YARA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Static signature scanning for trojans &amp; malware.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5005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IP Tracker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GeoIP2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IP geolocating &amp; threat intelligence blacklisting.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5006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SSL Inspector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PyOpenSSL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X.509 cert chains, issuer trust, and expiry auditor.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5008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Email Phishing Classifier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4F4F5"/>
                          </a:solidFill>
                          <a:latin typeface="Consolas"/>
                        </a:defRPr>
                      </a:pPr>
                      <a:r>
                        <a:t>Python (Flask) + DistilBERT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4F4F5"/>
                          </a:solidFill>
                          <a:latin typeface="Arial"/>
                        </a:defRPr>
                      </a:pPr>
                      <a:r>
                        <a:t>NLP classification for phishing &amp; social engineering.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Engine Detail: Password &amp; URL Evaluators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PASSWORD STRENGTH EVALUATOR (PORT 5000)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Shannon Entropy Core: Computes mathematical randomness on the character distribution of inputs, quantifying the information content.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Zxcvbn Modeling: Mimics human cracking patterns by scanning for keyboard spatial patterns, repeating sequences, and common dates.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Breach Database Checks: Interrogates local indices of cracked password dictionaries to flag historically leaked user keys.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Estimated Crack Time: Provides precise calculation models mapping brute-force times at different scanning speeds.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URL HEURISTIC THREAT SCANNER (PORT 5001)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Lexical Analysis: Scans URL string structure for typical indicator traits of fraud (excessive dots, fake subdomains, credential targets).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Entropy Calculations: Computes character entropy on target domain names to detect random-looking domain names typical in botnets.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Active Redirection Check: Uses HTTP client tunnels to follow redirect hops, ensuring safety of final destination sites.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Phishing Blacklists: Cross-references domain names against global repositories mapping malicious sites.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Engine Detail: Cryptographic Identifiers &amp; Port Scanners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HASH ALGORITHM IDENTIFIER (PORT 5002)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Signature Length Verification: Leverages hash byte length and patterns to filter algorithm formats (MD5-32 char, SHA-256-64 char).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Regular Expression Matchers: Scans character ranges to identify special systems (bcrypt, argon2, phpass, django hashes).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Cryptographic Profiling: Helps cyber analysts determine hash types before feeding target digests into cracking grids.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Database Matching: Maps inputs to known hash format patterns for 200+ distinct hashing functions.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ASYNCHRONOUS PORT SCANNER (PORT 5003)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SYN Scanning Emulation: Initiates socket connection sequences to probe for active system communication ports.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Multi-Threaded Probes: Scans target hosts concurrently, drastically shortening analysis windows compared to single-threaded routines.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Common Ports Catalog: Probes target ports (e.g. 21/FTP, 22/SSH, 80/HTTP, 443/HTTPS, 3306/MySQL) to identify vulnerable service entrypoints.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Service Resolution: Interrogates banners returned by target services to trace platform versions.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Engine Detail: Static Malware Sandboxing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STATIC FILE ANALYZER (PORT 5004)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YARA Rule Processing: Integrates customizable YARA rule files directly into the scanning sequence.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Signature File Scans: Scans files without local code execution, securing the hosting server from compromise.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Metadata Extractor: Extracts file headers, binary formats (PE, ELF, Mach-O), size metrics, and hashes.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Heuristic Signature Engine: Matches strings and raw hex sequences to identify hidden malware payload footprints.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MALWARE SCAN PIPELINE FLOW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1. Dropzone Upload: Client frontend (React) pushes selected file stream via multipart/form-data payload.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2. Server Action Tunnel: Next.js API intercepts stream, validates headers, and forwards buffer to loopback Port 5004.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3. Engine Evaluation: Flask YARA daemon compiles custom signatures, scans byte-stream, and checks MD5/SHA-256.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4. JSON Threat Profile: Returns telemetry matching triggers, severity rankings, and quarantine recommendations.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5. Dashboard Display: Renders matrix-themed red/green threat results to the operator console.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Engine Detail: IP Threat Trackers &amp; SSL Cert Inspectors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IP GEOLOCATOR &amp; REPUTATION ENGINE (PORT 5005)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GeoIP Database Querying: Matches target IP addresses against localized coordinates (latitude, longitude, country).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Network ASN Resolution: Fetches hosting provider and Autonomous System Number (ASN) tracking.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Reputation Checkers: Queries threat databases to check if IPs are linked to botnet activity or proxy networks.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DDoS Origin Mapping: Aids in packet traces, helping operators localize network attack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X.509 SSL/TLS CERTIFICATE INSPECTOR (PORT 5006)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Handshake Parsing: Initiates TLS handshake sequence to extract target SSL X.509 certificate streams.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Cryptographic Audit: Details public key algorithms, key bit strength, and signature algorithm schemas.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Trust Chain Validation: Scans certificate issuing authority (CA) fields to confirm root trust validation.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Expiration Watchdog: Identifies exact valid dates to flag expiring or invalid domain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AI CORE MODELING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AI NLP Modeling: Phishing Mail Classifier (Port 5008)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DISTILBERT NLP THREAT MODEL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Architecture Choice: Uses DistilBERT (a distilled, lightweight version of BERT) maintaining 97% of BERT's performance with a 40% reduction in size.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Attention Mechanism: Utilizes transformer multi-head self-attention layer weights to trace syntactic relationships across input text blocks.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Fine-Tuning: Trained on extensive corpora of scam, spam, phishing, and safe corporate emails.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Why Port Isolation? Transformer runtime loading requires torch and huggingface dependencies. Separating this engine avoids blocking low-latency socket routines.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CLASSIFICATION PIPELINE &amp; METRICS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Tokenization Process: Raw email string text is split using WordPiece tokenizers, mapping terms to vocabulary IDs.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Heuristic Context Parsing: Analyzes subject lines and email body headers for sender impersonation and urgent CTAs.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Decision Outputs: Calculates classification probabilities, flagging emails as: SAFE, SUSPICIOUS, or PHISHING.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Token Importance Mapping: Extracts key alert tokens (e.g. 'immediately', 'verify bank', 'login alert') contributing to high threat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Global Threat Feed Aggregation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XML RSS THREAT INTEGRATOR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CISA Advisories parsing: Connects directly to cisa.gov cybersecurity advisory bulletins.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BleepingComputer RSS parsing: Pulls commercial industry news from BleepingComputer feeds.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Chronological Sorting: Parses XML date metadata, normalizing varying date formats, and sorting feeds descending.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Relative Time Engine: Calculates date diffs, displaying durations (e.g. '4m ago', '3h ago') dynamically on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EF4444"/>
                </a:solidFill>
                <a:latin typeface="Consolas"/>
              </a:defRPr>
            </a:pPr>
            <a:r>
              <a:t>ROBUST OFFLINE FAILSAFE SYSTEM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Try-Catch Isolation: Wrapped in strict error wrappers. Prevents external connection timeout from throwing React build/runtime errors.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Client Caching Fallback: If external feeds are unreachable (network downtime, CORS, offline environment), the module falls back to local threat intelligence caches.</a:t>
            </a:r>
          </a:p>
          <a:p>
            <a:pPr>
              <a:spcAft>
                <a:spcPts val="800"/>
              </a:spcAft>
              <a:defRPr sz="1100">
                <a:solidFill>
                  <a:srgbClr val="F4F4F5"/>
                </a:solidFill>
                <a:latin typeface="Arial"/>
              </a:defRPr>
            </a:pPr>
            <a:r>
              <a:t>• No Blocking: Next.js server action executes asynchronously, ensuring home dashboard render finishes instantly without delay.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CYBERSATHI HUB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4F5"/>
                </a:solidFill>
                <a:latin typeface="Arial"/>
              </a:defRPr>
            </a:pPr>
            <a:r>
              <a:t>Recent Enhancements: Branding, Persistence &amp;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64992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EF4444"/>
                </a:solidFill>
                <a:latin typeface="Consolas"/>
              </a:defRPr>
            </a:pPr>
            <a:r>
              <a:t>🎨 BRANDING REFACTOR</a:t>
            </a:r>
          </a:p>
          <a:p>
            <a:pPr>
              <a:spcAft>
                <a:spcPts val="1600"/>
              </a:spcAft>
              <a:defRPr sz="1000" b="1">
                <a:solidFill>
                  <a:srgbClr val="A1A1AA"/>
                </a:solidFill>
                <a:latin typeface="Arial"/>
              </a:defRPr>
            </a:pPr>
            <a:r>
              <a:t>Cybersathi Hub Branding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Next.js metadata update: Set document title to 'Cybersathi Hub' for cleaner operator experience.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Startup sequence: Redesigned the terminal boot sequence logs to output 'INIT: Cybersathi Hub Core'.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Header UI: Set branding header to 'CYBERSATHI HUB CORE'.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6552" y="1645920"/>
            <a:ext cx="3364992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EF4444"/>
                </a:solidFill>
                <a:latin typeface="Consolas"/>
              </a:defRPr>
            </a:pPr>
            <a:r>
              <a:t>🔒 BACK-NAV PERSISTENCE</a:t>
            </a:r>
          </a:p>
          <a:p>
            <a:pPr>
              <a:spcAft>
                <a:spcPts val="1600"/>
              </a:spcAft>
              <a:defRPr sz="1000" b="1">
                <a:solidFill>
                  <a:srgbClr val="A1A1AA"/>
                </a:solidFill>
                <a:latin typeface="Arial"/>
              </a:defRPr>
            </a:pPr>
            <a:r>
              <a:t>Tab-Level Session Storage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State Isolation fix: Returning to Command Center from tools was resetting home state to 'login'.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sessionStorage Hook: Integrated session authentication storage flag on successful logins.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Autopass filter: Skips login sequence on return mounts within the same tab.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47304" y="1645920"/>
            <a:ext cx="3364992" cy="4389120"/>
          </a:xfrm>
          <a:prstGeom prst="rect">
            <a:avLst/>
          </a:prstGeom>
          <a:solidFill>
            <a:srgbClr val="1A1A1E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EF4444"/>
                </a:solidFill>
                <a:latin typeface="Consolas"/>
              </a:defRPr>
            </a:pPr>
            <a:r>
              <a:t>⚡ MODERN BOX-CARD UX</a:t>
            </a:r>
          </a:p>
          <a:p>
            <a:pPr>
              <a:spcAft>
                <a:spcPts val="1600"/>
              </a:spcAft>
              <a:defRPr sz="1000" b="1">
                <a:solidFill>
                  <a:srgbClr val="A1A1AA"/>
                </a:solidFill>
                <a:latin typeface="Arial"/>
              </a:defRPr>
            </a:pPr>
            <a:r>
              <a:t>Dynamic UI Component Overhaul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Grid Restructuring: Arranged vertical box toolcards in a 3-column responsive layout.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Neon Hover Animation: Hovering over card triggers red-team borders and bottom radial glow.</a:t>
            </a:r>
          </a:p>
          <a:p>
            <a:pPr>
              <a:spcAft>
                <a:spcPts val="800"/>
              </a:spcAft>
              <a:defRPr sz="1050">
                <a:solidFill>
                  <a:srgbClr val="F4F4F5"/>
                </a:solidFill>
                <a:latin typeface="Arial"/>
              </a:defRPr>
            </a:pPr>
            <a:r>
              <a:t>• Accent &amp; Tags: Slide-in top header red accent line and absolute-positioned 'READY' tags.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